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bafc369f114c04" /><Relationship Type="http://schemas.openxmlformats.org/officeDocument/2006/relationships/extended-properties" Target="/docProps/app.xml" Id="Ra85d27268e9746f0" /><Relationship Type="http://schemas.openxmlformats.org/officeDocument/2006/relationships/officeDocument" Target="/ppt/presentation.xml" Id="Rc07937c2147d49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b25894b734f98"/>
  </p:sldMasterIdLst>
  <p:notesMasterIdLst>
    <p:notesMasterId xmlns:r="http://schemas.openxmlformats.org/officeDocument/2006/relationships" r:id="R1936993e459e40a3"/>
  </p:notesMasterIdLst>
  <p:sldIdLst>
    <p:sldId xmlns:r="http://schemas.openxmlformats.org/officeDocument/2006/relationships" id="256" r:id="R0ed8a0f408eb46ef"/>
    <p:sldId xmlns:r="http://schemas.openxmlformats.org/officeDocument/2006/relationships" id="257" r:id="Reee3e98bda0b47d8"/>
    <p:sldId xmlns:r="http://schemas.openxmlformats.org/officeDocument/2006/relationships" id="258" r:id="Rbcede689682c4909"/>
    <p:sldId xmlns:r="http://schemas.openxmlformats.org/officeDocument/2006/relationships" id="259" r:id="R188b8d1a24f94b01"/>
    <p:sldId xmlns:r="http://schemas.openxmlformats.org/officeDocument/2006/relationships" id="260" r:id="R5b04e85b4aec469e"/>
    <p:sldId xmlns:r="http://schemas.openxmlformats.org/officeDocument/2006/relationships" id="261" r:id="Rca6e6e887e004337"/>
    <p:sldId xmlns:r="http://schemas.openxmlformats.org/officeDocument/2006/relationships" id="262" r:id="Rb8590549f9c54287"/>
    <p:sldId xmlns:r="http://schemas.openxmlformats.org/officeDocument/2006/relationships" id="263" r:id="R817834db9e3d402d"/>
    <p:sldId xmlns:r="http://schemas.openxmlformats.org/officeDocument/2006/relationships" id="264" r:id="R9dc291971ed74565"/>
    <p:sldId xmlns:r="http://schemas.openxmlformats.org/officeDocument/2006/relationships" id="265" r:id="R5ed9e43e151b42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ac9b4d42a42ae" /><Relationship Type="http://schemas.openxmlformats.org/officeDocument/2006/relationships/slideMaster" Target="/ppt/slideMasters/slideMaster1.xml" Id="Rc35b25894b734f98" /><Relationship Type="http://schemas.openxmlformats.org/officeDocument/2006/relationships/notesMaster" Target="/ppt/notesMasters/notesMaster1.xml" Id="R1936993e459e40a3" /><Relationship Type="http://schemas.openxmlformats.org/officeDocument/2006/relationships/presProps" Target="/ppt/presProps.xml" Id="Rc6d8068f361141b3" /><Relationship Type="http://schemas.openxmlformats.org/officeDocument/2006/relationships/viewProps" Target="/ppt/viewProps.xml" Id="R031cf79c980a4c8d" /><Relationship Type="http://schemas.openxmlformats.org/officeDocument/2006/relationships/tableStyles" Target="/ppt/tableStyles.xml" Id="R1a30e2d3ec2640cd" /><Relationship Type="http://schemas.openxmlformats.org/officeDocument/2006/relationships/slide" Target="/ppt/slides/slide1.xml" Id="R0ed8a0f408eb46ef" /><Relationship Type="http://schemas.openxmlformats.org/officeDocument/2006/relationships/slide" Target="/ppt/slides/slide2.xml" Id="Reee3e98bda0b47d8" /><Relationship Type="http://schemas.openxmlformats.org/officeDocument/2006/relationships/slide" Target="/ppt/slides/slide3.xml" Id="Rbcede689682c4909" /><Relationship Type="http://schemas.openxmlformats.org/officeDocument/2006/relationships/slide" Target="/ppt/slides/slide4.xml" Id="R188b8d1a24f94b01" /><Relationship Type="http://schemas.openxmlformats.org/officeDocument/2006/relationships/slide" Target="/ppt/slides/slide5.xml" Id="R5b04e85b4aec469e" /><Relationship Type="http://schemas.openxmlformats.org/officeDocument/2006/relationships/slide" Target="/ppt/slides/slide6.xml" Id="Rca6e6e887e004337" /><Relationship Type="http://schemas.openxmlformats.org/officeDocument/2006/relationships/slide" Target="/ppt/slides/slide7.xml" Id="Rb8590549f9c54287" /><Relationship Type="http://schemas.openxmlformats.org/officeDocument/2006/relationships/slide" Target="/ppt/slides/slide8.xml" Id="R817834db9e3d402d" /><Relationship Type="http://schemas.openxmlformats.org/officeDocument/2006/relationships/slide" Target="/ppt/slides/slide9.xml" Id="R9dc291971ed74565" /><Relationship Type="http://schemas.openxmlformats.org/officeDocument/2006/relationships/slide" Target="/ppt/slides/slide10.xml" Id="R5ed9e43e151b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6c25f279e4d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6cabde6e14581" /><Relationship Type="http://schemas.openxmlformats.org/officeDocument/2006/relationships/notesMaster" Target="/ppt/notesMasters/notesMaster1.xml" Id="Rea2569c4d8ec43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992c8a6eaa41c2" /><Relationship Type="http://schemas.openxmlformats.org/officeDocument/2006/relationships/notesMaster" Target="/ppt/notesMasters/notesMaster1.xml" Id="R6d44a9a4480145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95e79ade124203" /><Relationship Type="http://schemas.openxmlformats.org/officeDocument/2006/relationships/notesMaster" Target="/ppt/notesMasters/notesMaster1.xml" Id="Rb33c226c2bd846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1c72fa0a4e4757" /><Relationship Type="http://schemas.openxmlformats.org/officeDocument/2006/relationships/notesMaster" Target="/ppt/notesMasters/notesMaster1.xml" Id="R78953cd8538e4c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d6a97fa7174012" /><Relationship Type="http://schemas.openxmlformats.org/officeDocument/2006/relationships/notesMaster" Target="/ppt/notesMasters/notesMaster1.xml" Id="R20974db9f41b4a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5cac353544fb7" /><Relationship Type="http://schemas.openxmlformats.org/officeDocument/2006/relationships/notesMaster" Target="/ppt/notesMasters/notesMaster1.xml" Id="Re00636a8157249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0239a7528747f9" /><Relationship Type="http://schemas.openxmlformats.org/officeDocument/2006/relationships/notesMaster" Target="/ppt/notesMasters/notesMaster1.xml" Id="R8a02cf6baee644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913dfea41c4748" /><Relationship Type="http://schemas.openxmlformats.org/officeDocument/2006/relationships/notesMaster" Target="/ppt/notesMasters/notesMaster1.xml" Id="R3fa2c72104b648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b35e739a2c4aec" /><Relationship Type="http://schemas.openxmlformats.org/officeDocument/2006/relationships/notesMaster" Target="/ppt/notesMasters/notesMaster1.xml" Id="R2f8e60cf8aaf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27aa0d5bb74edf" /><Relationship Type="http://schemas.openxmlformats.org/officeDocument/2006/relationships/notesMaster" Target="/ppt/notesMasters/notesMaster1.xml" Id="Rf589d36da627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f64ea1881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0c9a0b49f4a52" /><Relationship Type="http://schemas.openxmlformats.org/officeDocument/2006/relationships/slideLayout" Target="/ppt/slideLayouts/slideLayout1.xml" Id="Rd51739a68432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1739a68432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89487a6d0414b" /><Relationship Type="http://schemas.openxmlformats.org/officeDocument/2006/relationships/image" Target="/ppt/media/image.jpeg" Id="R73df69e6c4fd4c14" /><Relationship Type="http://schemas.openxmlformats.org/officeDocument/2006/relationships/notesSlide" Target="/ppt/notesSlides/notesSlide1.xml" Id="R385bcf13e26e41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2caa0ea8745b7" /><Relationship Type="http://schemas.openxmlformats.org/officeDocument/2006/relationships/notesSlide" Target="/ppt/notesSlides/notesSlide2.xml" Id="Rdad1f7e1f561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f81e7d1c5479c" /><Relationship Type="http://schemas.openxmlformats.org/officeDocument/2006/relationships/notesSlide" Target="/ppt/notesSlides/notesSlide3.xml" Id="R3d4c9be784e0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4d799358c47a9" /><Relationship Type="http://schemas.openxmlformats.org/officeDocument/2006/relationships/notesSlide" Target="/ppt/notesSlides/notesSlide4.xml" Id="Rc1f08d97ebf341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bb7abf9324089" /><Relationship Type="http://schemas.openxmlformats.org/officeDocument/2006/relationships/notesSlide" Target="/ppt/notesSlides/notesSlide5.xml" Id="Rb6a0aa97316e41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c530c803e45b8" /><Relationship Type="http://schemas.openxmlformats.org/officeDocument/2006/relationships/image" Target="/ppt/media/image2.jpeg" Id="R448305ecb3074de7" /><Relationship Type="http://schemas.openxmlformats.org/officeDocument/2006/relationships/notesSlide" Target="/ppt/notesSlides/notesSlide6.xml" Id="Rbb48d756400247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a272ccb794bab" /><Relationship Type="http://schemas.openxmlformats.org/officeDocument/2006/relationships/image" Target="/ppt/media/image3.jpeg" Id="R08eb2eecb31341ae" /><Relationship Type="http://schemas.openxmlformats.org/officeDocument/2006/relationships/notesSlide" Target="/ppt/notesSlides/notesSlide7.xml" Id="Rc49a9249312a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7502603794be4" /><Relationship Type="http://schemas.openxmlformats.org/officeDocument/2006/relationships/image" Target="/ppt/media/image4.jpeg" Id="R1bb1a513ccd54376" /><Relationship Type="http://schemas.openxmlformats.org/officeDocument/2006/relationships/notesSlide" Target="/ppt/notesSlides/notesSlide8.xml" Id="R897d57b6703e40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09d77cb814a45" /><Relationship Type="http://schemas.openxmlformats.org/officeDocument/2006/relationships/image" Target="/ppt/media/image5.jpeg" Id="R0a1ce7432a2c4dd4" /><Relationship Type="http://schemas.openxmlformats.org/officeDocument/2006/relationships/notesSlide" Target="/ppt/notesSlides/notesSlide9.xml" Id="R970a4d79fa874c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db336c0d246a0" /><Relationship Type="http://schemas.openxmlformats.org/officeDocument/2006/relationships/notesSlide" Target="/ppt/notesSlides/notesSlide10.xml" Id="R59c59218836a48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DA041F-9549-4C66-93E5-49E99EE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E5D6A-85E3-45B9-9CE3-C477059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F2C7-5730-4006-8E6B-A412C16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Pick to Sort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69C27-902D-4F02-87CC-C1486D63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647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Performance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6CB1B-FF9E-42E0-9B98-89F203A5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953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เว็บ Dashboard สำหรับติดตามงาน Pick และ Sort จาก Google Sheets: เห็นยอดงานล่าสุด, ประสิทธิภาพทีม, ความเร็วต่อ Wave และรายการที่ยังค้าง Sort ในหน้าเดียว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A5C2B-32D3-4CC6-872D-CE6AA38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0961E-72C4-497C-AFF2-956CC0B6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665DF-198A-4819-8D1A-0C7914B9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ข้อมูลในระบบ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F0325-8C7B-4D3D-842D-0C4C59E2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924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16,250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E7249-C13E-486F-87CF-DDBEF321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รายการจาก Google Sheet ผ่าน GViz JSONP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93FF1-0EED-4EB0-9944-CD93876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94B35-0AA6-42DE-9C7B-1ED52890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FCBB0-3E18-4C62-9178-7C7CF4E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995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ข้อมูลล่าสุด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222DB-B239-4B79-8119-537FD5C5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11/06/2026 14:56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B986F-9C89-4B7A-93B1-51183DD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719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หน้าเว็บ auto-refresh ทุก 5 นาที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63139-987A-4DD8-9F10-A50C4C7F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76142-6EA5-4526-8BFB-FB88E8A2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AB9A4-F815-4BE8-B96A-C3785F74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หน้าที่นำเสนอ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6CBD6-409B-44D6-BF03-E74A379D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4 เมนูหลัก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FB479-DE10-488E-8333-8183E60A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Overview, Daily, People/Wave, Worklist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444D8-5C16-40FB-8A8C-2CEF657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1C3558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f69e6c4fd4c14"/>
          <a:stretch xmlns:a="http://schemas.openxmlformats.org/drawingml/2006/main"/>
        </p:blipFill>
        <p:spPr>
          <a:xfrm xmlns:a="http://schemas.openxmlformats.org/drawingml/2006/main">
            <a:off x="6586008" y="666750"/>
            <a:ext cx="4925483" cy="30956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D453B-A9A4-4CE1-A417-D6F9D2A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006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18D3B-65C4-4CE0-9D71-5ABDA523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76850"/>
            <a:ext cx="2971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ใช้เปิดนำเสนอ workflow + วิธีอ่าน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36221-5B7C-42B3-BDE2-67C8F14C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C5A12-A0CA-4A53-8CF8-CBB71EC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06626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684D5-0BF4-480C-9BCE-960F5DD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4ADBD-B4BE-4B20-81F3-4B5C25DF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1CF22-26F0-4CE0-AC4E-0F98DD4B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F1E73-BE3D-4BF4-8878-FEAB556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Dashboard นี้ตอบคำถามปฏิบัติการอะไร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4C55A-CB22-4F92-9AFC-102BA38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458C6-CC74-4FDC-98C9-CA6A4FA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C35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44A72-036C-496F-B852-B3EED800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DEDE7-8F5B-4E57-A100-3B931EC5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วันนี้ทำได้เท่าไร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87C0F-E0DF-4728-A576-F87DFC40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Qty ชิ้น/แพ็ค, จำนวนรายการ, จำนวนคน และ productivity รวม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42ABC-3A18-4C9D-A5B0-768912B7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2"/>
          </a:solidFill>
          <a:ln xmlns:a="http://schemas.openxmlformats.org/drawingml/2006/main" w="9525">
            <a:solidFill>
              <a:srgbClr val="1C35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A2B77-E67A-40FE-A634-F488988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6AE49-CF8E-48EA-B7B5-B47B68BC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งานไหลเร็วไหม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C9C9F-5A45-4C4F-AB00-61C5AFCA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Sort สำเร็จ %, เวลาเฉลี่ย Pick to Sort และรายการที่ยังไม่ Sort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C4CC5-5017-4972-8EEB-68CE1EDF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C35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7AF87-0863-451F-A8D4-707C80A5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2859A-BB79-4558-B6EE-DAA91AD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กะไหนแบก workload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2AFF4-3055-41DD-843B-F4E75741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แยก DAY / NIGHT / OT และเทียบกับช่วงก่อนหน้า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CB9E7-D16A-41DC-BE6C-D4BE6F1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2"/>
          </a:solidFill>
          <a:ln xmlns:a="http://schemas.openxmlformats.org/drawingml/2006/main" w="9525">
            <a:solidFill>
              <a:srgbClr val="1C35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10264-61DB-458C-AEE6-A0964E9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25357-D79C-4750-A50B-48B36CF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ใครหรือ Wave ไหนควรดูต่อ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7BAD0-2D50-45CF-A7B5-0227242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จัดอันดับพนักงาน, duration ต่อ Wave และ worklist รายการล่าสุด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10F1E-7F33-4EF4-B6C4-215B0D1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AA091-93D5-47A2-B10B-A0BC2D9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5A63D-7B48-457B-AC53-5509C80F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วิธีเล่าในที่ประชุม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1B8DB-325E-45EC-971C-D0C2B876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5339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เริ่มจาก Overview เพื่อเห็นสถานะรวม จากนั้นเจาะ Daily/Slot เพื่อดูเวลาเร่งงาน ต่อด้วย People/Wave เพื่อหา bottleneck และปิดด้วย Worklist สำหรับ action รายการจริง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A6A88-4E4C-4AFD-B978-A069AF95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2CA62-4098-4DC3-93E7-32A2F491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0F654-52AA-4417-A6E8-74D6B083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จุดเด่นจากโค้ด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DA164-245B-452E-8415-C1C13703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5339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เว็บไม่ได้สรุปจากข้อมูล static แต่โหลด Google Sheets สด, แก้ format วันที่หลายรูปแบบ, map รหัสพนักงานเป็นชื่อเล่น และจัดกะอัตโนมัติตามเวลา Pick/Sort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731A02-DF1B-47BF-A76C-A43C7A65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AD7AF-8885-4962-BB34-CD49CD89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91561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25707-E91F-4B04-BE3C-38481963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5D1FA-5D68-468C-B335-8222ACE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65F83-14E9-48B1-B9A9-9599B2D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52D49-23B7-4FFD-B314-B52E4508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Code map: จากไฟล์ local ไปเป็น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F0044-1A87-412E-95B8-157D5C5B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B76C4-3301-4E7E-89FF-DADCB81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046A8-B82F-4E3D-BD42-71D68A06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index.html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FE6EE-854D-4F17-B866-4AB8A186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2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D684E-50A9-4BB6-89D1-B1CB11B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t>styles.css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0169F-1E0F-4755-92ED-858D96A2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ECA75-DD66-485D-8650-B234B69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data.js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1927F-8C05-48B5-9FE4-9B97309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2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2E332-1556-4D4E-9A08-7C8ACB02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0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t>app.js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79801-3D7F-4C4E-94F4-324DA56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2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1592E-8A0A-4360-A485-D11B4134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server.py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2EC57-C84E-4571-A08C-953B7A78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โครงหน้า + เมนู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5A61F-72D7-486C-904A-36414450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812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Theme / responsive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0CEB6-C43C-49B0-8BFA-5617508E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812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Config + staff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CCE09-7C9A-400A-80EE-6B57CFB9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812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Load / normalize / render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83585-402F-40CA-9164-E948288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812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Local static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27101-CF6E-4D26-BBC1-5028DE8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143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FBBF2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A70CD-6E2B-4275-A059-DC6E257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8002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1. Data 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28610-1774-4BC3-BE1B-518D905D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18002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Google Sheet Data range A:P + staff sheet range B:D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8AB95-B6CA-4FD5-962E-9DC8924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90850"/>
            <a:ext cx="2143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2DD4B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19F0F-8447-4AA4-B9A7-0DE19B44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43250"/>
            <a:ext cx="18002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2. Loader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65D5A-E0EB-4B9A-B6F4-E275CE63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67100"/>
            <a:ext cx="18002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GViz JSONP callback, timeout 45s, error handling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1AFFC-4E8E-4F06-966C-22C994F7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143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8B5CF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FA429-376B-4226-8EB4-3B1901A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8002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3. Normalizer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6AB3A-178B-4A9C-8243-87151C01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18002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หา header, parse date/time, map staff, calculate 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8BEF1-EC1D-4348-A53E-F9DB0B19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90850"/>
            <a:ext cx="2143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38BDF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F8777-52A9-4BD3-8A32-969360EC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18002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4. Renderer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0389A-BC3F-4652-9326-DB7AF080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67100"/>
            <a:ext cx="18002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KPI, Day/Night, chart, tables, CSV 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033DB-A103-4B7B-AC20-F24DAB48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3"/>
          </a:solidFill>
          <a:ln xmlns:a="http://schemas.openxmlformats.org/drawingml/2006/main" w="0">
            <a:solidFill>
              <a:srgbClr val="20355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595B1-F951-47F3-8FC1-8F86A8DE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19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769C69-38C5-4D59-98D2-0BA7D10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099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3"/>
          </a:solidFill>
          <a:ln xmlns:a="http://schemas.openxmlformats.org/drawingml/2006/main" w="0">
            <a:solidFill>
              <a:srgbClr val="20355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B58418-6827-4EBC-B57E-BAA3842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86125"/>
            <a:ext cx="19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226C6-636F-410E-8823-0FDE575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3"/>
          </a:solidFill>
          <a:ln xmlns:a="http://schemas.openxmlformats.org/drawingml/2006/main" w="0">
            <a:solidFill>
              <a:srgbClr val="20355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9AB2F2-B861-4518-9AC5-9CEC030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19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691D2E-628E-40C4-B26D-FE89FA3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022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5BB100-E435-42BC-B0C7-55A1F276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969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แกน logic อยู่ใน app.js ประมาณ 1,900 บรรทัด: state filter, shift engine, metric aggregation, render functions และ event handlers ทั้งหมดอยู่ฝั่ง browser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91155-25C0-4E0E-BE5A-F7C2317E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9043E7-1B95-4CA9-84D3-5618FBCB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36775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769572-8ABE-4FB5-BAE9-6713E98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5C838-C16D-4EB0-B1CC-604907E9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03DDC-7603-492C-B6B5-9EEF1173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E28A3-0574-42AF-BBB1-0C2CBA9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Data pipeline: จาก Sheets สู่ records พร้อมใช้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65878-4BF5-4128-9E77-96D3A982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A18D-C523-42FF-95AA-0A7F9BA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2286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2DD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8B6FF-4185-4C78-B499-8DBA01E2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8C12B-2F0C-4B66-B6AA-55A4ED9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loadSheet ViaJsonp()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16B4C-A0E6-4657-B2E6-10736F2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866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สร้าง script tag ไปที่ Google GViz API พร้อม callback เฉพาะครั้ง และ timeout 45 วินาที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06553-1660-441C-B25D-8B01DBF8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3"/>
          </a:solidFill>
          <a:ln xmlns:a="http://schemas.openxmlformats.org/drawingml/2006/main" w="0">
            <a:solidFill>
              <a:srgbClr val="2035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F4CD2-A89C-4B9D-BD5A-1FB9C9E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19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11C92-14E1-4904-B6E4-28693D22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6400"/>
            <a:ext cx="2286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2"/>
          </a:solidFill>
          <a:ln xmlns:a="http://schemas.openxmlformats.org/drawingml/2006/main" w="1905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8D67D-714C-4A5C-9BB3-1329FC5D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478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7A6E6-70AE-422A-9777-B4D1C187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resolve RecordTable()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0A7D9-F0C6-4EFF-91B7-1389AD7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866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สแกน 30 แถวแรกเพื่อหา header ที่ match column candidates ไม่ผูกกับตำแหน่งแถวตายตัว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E8131-8F11-4D80-99D6-7693047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3"/>
          </a:solidFill>
          <a:ln xmlns:a="http://schemas.openxmlformats.org/drawingml/2006/main" w="0">
            <a:solidFill>
              <a:srgbClr val="2035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1A6F3-7D33-462D-ADAC-D1168C02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19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98036-7F38-4F36-BAC7-24051081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2286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FBBF2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651E2-4B86-4433-81F7-3A282561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C4D38-D296-428B-AEFE-7EE3C5B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normalize Records()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28A83-FC60-4052-B85D-90D9F4C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1866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แปลง qty, item, wave, picker/sorter, pick/sort time และคำนวณ cycleMinutes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DE741-B0C0-43AD-BA32-F5108BD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3"/>
          </a:solidFill>
          <a:ln xmlns:a="http://schemas.openxmlformats.org/drawingml/2006/main" w="0">
            <a:solidFill>
              <a:srgbClr val="20355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F3B45-123B-4AB3-B50F-AA804D26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19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AEE09-4FBF-4762-9698-027C75C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286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2"/>
          </a:solidFill>
          <a:ln xmlns:a="http://schemas.openxmlformats.org/drawingml/2006/main" w="19050">
            <a:solidFill>
              <a:srgbClr val="8B5CF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ECF92-7468-42B2-8157-09834547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478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6E66C-E5A7-452F-9929-BE3790EE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66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deriveMeta()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69E27-DAC9-4A99-854E-5144E9F0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866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หา date range, latest timestamp, skipped rows และ generatedAt สำหรับแถบ meta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CD0CE-678C-46EB-B808-32D06F20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24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22E88-1369-45D9-B2E6-6A146FD8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2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BE57E-0806-46E4-8487-D597D57B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430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การจัดการข้อมูลพิเศษ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4F8697-ACD4-4587-B13A-39D0A22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30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Column L ที่เป็น Not Picked จะเก็บ rawQty ไว้ แต่ตั้ง qtyEach/qtyPack เป็น 0 ก่อนสรุป เพื่อไม่ให้ยอดรวมบวมจากงานที่ยังไม่ได้ Pick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AFAE4-BE06-45CD-B767-F63AE6F6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4724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D5B3F-C5D5-482A-8057-5902FE73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472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51AA74-7733-4F91-854E-38FF503B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430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Staff lookup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B4FA1-F245-422B-8DCE-F5E4251D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430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โหลดรายชื่อพนักงานจากชีตอีกไฟล์ ถ้าโหลดสดไม่ได้จะ fallback ไปที่ window.PICK_SORT_STAFF ใน data.js เพื่อยังแสดงชื่อเล่นได้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34AABE-3145-4098-A09B-5819D6E8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CBAE74-804A-44A6-BACC-A2A63A1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43160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E5EA6-135E-485E-9CA7-7100A12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56801-69B9-4603-A091-F0EB4B7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89AEF-4B79-446F-8D79-BD1D9009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Business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584DC-7326-4C5F-A487-176EC4E5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Shift engine: แปลงเวลาเป็น DAY / NIGHT / 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1192F-B46F-4CC8-8E5F-0DA1E62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16E69-5351-48B8-9BD4-1C32DEFA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628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D3C56-2DB7-4F6A-AF07-D8BB3CC8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2880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กติกาที่ใช้ใน shiftInfo()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40156-87FB-45A8-B64F-6957DCE8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F52EC-9371-4ED1-BF95-1E0A6C81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0028B-A214-4C77-BE0B-33B9F0E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08:00-17:00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9ACE3-0162-4678-8B0A-4B320A0C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050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date เดิม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F6829-F2B4-4ADF-B08A-E063A130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4B"/>
          </a:solidFill>
          <a:ln xmlns:a="http://schemas.openxmlformats.org/drawingml/2006/main" w="0">
            <a:solidFill>
              <a:srgbClr val="1B2F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462D8-CFCE-4C39-ABCE-66D0905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286F7-AC8B-4A89-AD3E-13ABFE78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OT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756EB-C889-4195-BA0A-D933F2B4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17:30-20:00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32B85-7F4D-463F-BEF0-B0C8BBE0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date เดิม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B8E66-AF33-4BF8-89BE-B60E592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4B"/>
          </a:solidFill>
          <a:ln xmlns:a="http://schemas.openxmlformats.org/drawingml/2006/main" w="0">
            <a:solidFill>
              <a:srgbClr val="1B2F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D7DE1-8BCA-4082-8C76-89467D5B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620BC-CAEC-4170-AAB1-57944C6B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NIGHT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A22EE-0D23-4934-AC53-DCF7CC0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956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20:00-05:00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8E7E0-F746-4755-AF95-EDA4975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956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หลังเที่ยงคืนย้อนไปวันก่อน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DED76-11DB-4CC2-B405-9556EF4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4B"/>
          </a:solidFill>
          <a:ln xmlns:a="http://schemas.openxmlformats.org/drawingml/2006/main" w="0">
            <a:solidFill>
              <a:srgbClr val="1B2F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B2030-A887-4C0B-AFEC-D3CBF4EE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C3DA7-2A82-41D2-BC25-C448C66A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OT NIGHT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58E1C-B11A-4797-A199-0FE92F3F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90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05:30-08:00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77BA7B-C869-4474-9FC8-7C4AB73B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นับเป็นวันก่อน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F6B06-AD5A-44E8-BA7C-BEECB470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4B"/>
          </a:solidFill>
          <a:ln xmlns:a="http://schemas.openxmlformats.org/drawingml/2006/main" w="0">
            <a:solidFill>
              <a:srgbClr val="1B2F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0465C-045A-40DC-88A6-063FA76E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4C8"/>
          </a:solidFill>
          <a:ln xmlns:a="http://schemas.openxmlformats.org/drawingml/2006/main" w="0">
            <a:solidFill>
              <a:srgbClr val="A7B4C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9356E-8141-43D8-92BF-856C530B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Transition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FD44A-3F37-4F2D-861B-AED740A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862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17:00-17:30 / 05:00-05:30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4F69C-B525-499A-BAB7-196F9DA0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พักหรือเปลี่ยนกะ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32C05-53E3-4D3C-B9EA-48FDB3CE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954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0E8A2-5535-4166-97B3-ABA845F3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954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912DA-CC13-4640-AC25-02E7F73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หลักคิด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570C80-1F5C-418E-9A00-5E641D5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2724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ใช้เวลา Pick เป็นหลัก ถ้าไม่มี Pick จึงใช้เวลา Sort เพื่อจัดกะ ทำให้ record ที่ยังไม่ครบ flow ยังถูกนับเข้ากะได้ใกล้เคียงหน้างาน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2AA7F-BFAD-4838-B39E-CF160800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225632-BD45-4C23-A424-B0FD7EBE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48BBF1-1D0C-4137-90C1-0824E4D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ทำไมต้องย้อนไปวันก่อน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67E36-DCBC-4DAE-8641-4E4F5253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2724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งานช่วง 00:00-05:00 และ 05:30-08:00 เป็นงานต่อเนื่องของ NIGHT shift วันก่อน จึงต้องใช้ previousDate() เพื่อให้สรุปวันไม่แยกผิด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11D607-10C8-4D85-8E7A-3C729D76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228E07-6527-494D-9E83-F7A501D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91485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E3E4E-8615-4D76-BEEC-C319B2F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0254D-DDA7-4F5E-9266-C8DCB0A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39ADC-6CF2-4C02-B44A-6C0B1B6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Screen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B373F-0A0F-450D-B995-D507E56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Overview: เริ่มจากสถานะรวมของวันนี้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0DD5A-3112-4441-AD80-EE7689D2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42A23-81C4-42D0-8E34-0292A8B7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69151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1E375A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305ecb3074de7"/>
          <a:stretch xmlns:a="http://schemas.openxmlformats.org/drawingml/2006/main"/>
        </p:blipFill>
        <p:spPr>
          <a:xfrm xmlns:a="http://schemas.openxmlformats.org/drawingml/2006/main">
            <a:off x="569341" y="1466850"/>
            <a:ext cx="6728968" cy="4229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C7CA8-ADDE-478F-A792-4BA858D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E7210-D387-4217-92FE-5291C92E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1A736-922F-4C36-B7D1-0B01A77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Qty ชิ้น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EFB80-047F-43BB-BCF6-2846EFB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16,744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92837-D769-4708-84C4-16DB110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ยอดที่นับจริงหลังตัด Not Picked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64BE4-D352-4F00-B40D-B8B72AE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C3733-7E5D-44BF-A843-7DBCA815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2DD69-3F69-42AD-AE8F-45CED8F4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Sort สำเร็จ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14026-D25E-4F03-86A0-59AEDD33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32.4%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AAFE9-31BB-4299-8E4F-298C4097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671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320 รายการมีเวลา Sort แล้ว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909CD-A4C1-4EB1-943D-6AC92085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F345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19C5F-EBEE-4CBC-AA96-B557EE9F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110A0-B6C4-4B12-9883-2A5A8F7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Productivity รวม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92D74-E4F7-4F80-8B92-B88B163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1,612.6 ชิ้น/hr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57AB5-EDCC-45C4-83AD-8048A5F4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9590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16,744 ชิ้น / 10.4 ชม.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56674-6E68-4D52-99BC-D1B2B53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อ่านจากบนลงล่าง: KPI รวมก่อน, แล้วดูการ์ด DAY/NIGHT เพื่อรู้ว่างานวันนี้กระจุกในกะไหนและเทียบกับช่วงก่อนหน้าอย่างไร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0D6BF-DB68-4F82-9B96-B08C895F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22C2A-3AC4-4183-9786-AE3EEC85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58695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F1DBC-5B48-40F2-BD20-88D02744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D9483-85F8-4208-ABCC-90CC1EE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CF22-F181-4AC3-86FB-15A62FC4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Screen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CFB16-B114-4669-8CA3-53D6DEB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Daily / Time: ดู pattern รายวันและชั่วโมงเร่งงาน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81FF1-7596-45DD-96F1-2924E74D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ABEDB-DCEA-436C-9F32-98DE1AA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7105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1E375A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b2eecb31341ae"/>
          <a:stretch xmlns:a="http://schemas.openxmlformats.org/drawingml/2006/main"/>
        </p:blipFill>
        <p:spPr>
          <a:xfrm xmlns:a="http://schemas.openxmlformats.org/drawingml/2006/main">
            <a:off x="573659" y="1447800"/>
            <a:ext cx="6910832" cy="4343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3AF58-4577-4983-88B5-1717AA82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430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973EE-49E3-42C6-BC5D-01134DF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43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129E3-F777-4DB4-9BF0-3CB2B025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ตารางสรุปรายวัน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13A8F-BEE3-435A-A640-1DC906D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72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รวม Qty แยก DAY / NIGHT / ไม่ได้จัดกะ พร้อม % สัดส่วน เพื่อดูว่างานแต่ละวันไปอยู่ในกะใด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18E09-1C25-43FB-A97B-BE63F584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CE234-99A5-4EED-ACA7-4C89CDA1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023B0-4A2F-4410-BDAC-2929CC0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แนวโน้มรายวัน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B1092-FF57-409E-B6EC-A12FE8F4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272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bar = Qty แพ็ค, line = เวลาเฉลี่ย Pick to Sort ใช้เห็น throughput และ delay ในกราฟเดียว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8CF27-0AAB-4AC1-BD96-D37C784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34F46-363F-4372-B48E-DDC67E1F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B6457-EAF4-4AEF-B879-B3E5BDF6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Slot เวลา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915A1-C8B8-4F28-91A5-338AA047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272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แบ่ง 24 ชั่วโมง แล้วเทียบ Pick/Sort ในแต่ละชั่วโมง ทำให้เห็นชั่วโมงที่มีงานเข้าเยอะหรือ Sort ตามไม่ทัน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35BED-F24D-4FF3-AE64-BD0B240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B0B6F-206A-4C3C-8AF3-33D7DE61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15169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19B18-B5AA-4B5E-9D3A-94AD1E4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20C12-800E-448A-B192-1E5B56C0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296E0-C10B-4A93-AC95-C2D55BAC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Screen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E9A85-4268-49EE-8D95-E38A20E1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People / Wave: หาต้นทางของ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97395-AA7E-4F18-BBAA-DE6829AC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35BA7-7494-4548-8FB1-E02DA963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69151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1E375A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1a513ccd54376"/>
          <a:stretch xmlns:a="http://schemas.openxmlformats.org/drawingml/2006/main"/>
        </p:blipFill>
        <p:spPr>
          <a:xfrm xmlns:a="http://schemas.openxmlformats.org/drawingml/2006/main">
            <a:off x="571500" y="1448991"/>
            <a:ext cx="6762750" cy="4226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47FF4-B419-4B9D-85DC-29DC2EA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3276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E038-AE9B-4F92-840E-C9878FC5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CFAC4-2F9A-43C7-A4E9-6D26D6A6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พนักงาน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60C49-F0BC-4FCA-A5D2-E1D2B8A0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2857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employeeSummary() จัดอันดับ Pick หรือ Sort ตามชิ้น/hr โดยคำนวณ active hours จากช่วงเวลาแรกถึงท้ายสุดของแต่ละวัน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C292F-BA1F-43E0-9501-DD2F75AC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276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E42CB-162D-4B44-88DD-17A0E780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84205-380D-472B-AD8E-D094D987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ต่อ Wave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261C6-62FA-455F-A0FA-522B67D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2857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waveSummary() รวม Qty แพ็คต่อ Wave และคำนวณระยะเวลา Pick, Sort, เฉลี่ย Pick to Sort เพื่อหา Wave ที่ช้าหรือหนัก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66403-1A85-4109-A776-7E47291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3276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ใช้สลับปุ่ม Pick / Sort บน filter bar เพื่อเปลี่ยน ranking จากทีม Pick เป็นทีม Sort ได้ทันที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CC59B-8D52-4A6A-806B-B14C5F4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0E728-8963-4C18-95DE-0F7B73A9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94966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B28A1-C013-4F81-82AF-EE23F8E0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41A76-B2A2-451D-885F-712CFCC7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3297E-8FA8-4B3B-BE89-1599DF21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Screen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98A08-66AF-482C-AF96-36322A0F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Worklist + Filters: จาก insight ไป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C4043-59AE-421C-8F3D-BE185CBA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88505-C8BE-49DF-AF91-D36EE8BF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70104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19050">
            <a:solidFill>
              <a:srgbClr val="1E375A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ce7432a2c4dd4"/>
          <a:stretch xmlns:a="http://schemas.openxmlformats.org/drawingml/2006/main"/>
        </p:blipFill>
        <p:spPr>
          <a:xfrm xmlns:a="http://schemas.openxmlformats.org/drawingml/2006/main">
            <a:off x="552450" y="1447800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9F234-B7FB-403A-9F37-46363E4D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3276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7F976-3ECE-459C-BE28-54EC7EA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2B6EE-FB51-49BA-9FD9-93BEB7C5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รายการล่าสุด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683F2-CE7E-4C6A-B24E-C9C6336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renderSlowRows() เรียงจาก Pick ล่าสุด 24 แถวแรก แสดง Wave, กะ, item, qty, picker/sorter, เวลา Pick/Sort และ 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F3986-918A-4E9D-B02C-7D865AD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3276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80399-1CE6-46BB-B385-DF8E38EA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383CD-ED8D-4FE9-A949-297210B2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Filter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C7D72-657B-4C81-9B05-0801567C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dateFrom/dateTo, search, shiftFilter และ peopleMode อยู่ใน state เดียวกัน ทุกเมนูจึงใช้ชุดข้อมูลที่กรองตรงกัน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ED966-B995-44BF-BD71-2D6F440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33950"/>
            <a:ext cx="327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DCF30-6DA1-4AD0-93C3-EB8D9A94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3395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C9C32-6A40-41EF-B441-9AF91B61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CSV 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983C3-55C2-4651-BB29-411D8180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864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exportCsv() ส่งออกเฉพาะ filteredRecords() พร้อม BOM UTF-8 เพื่อเปิดภาษาไทยใน Excel ได้ง่าย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99105-9802-4E77-A07D-BE6FC63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7949A-DF6B-4F43-9ABD-8731DB59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57848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EB781-4C2A-4BE5-9B41-19C6D3A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6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C9262-DCF8-47F5-8392-E2ABD3BB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8AE80-F32E-4896-99C8-4780C4DA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t>Presenter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BB25F-DA56-4D1F-BE9F-0E565E6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Talk track สำหรับนำเสนอ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89311-F8D7-4E48-9A27-ACA2A0E1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C7916-3FBB-42BF-BDE4-95688CF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8D371-E63F-40AD-AAC8-20F41DB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859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1. เปิดด้วย pain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AEF4A-83DD-414E-9702-3B7DC0C9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ทีมต้องรู้ยอด Pick/Sort วันนี้แบบ real time และแยกได้ว่าปัญหาอยู่ที่กะ เวลา คน หรือ Wave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9C652-E3CB-447B-A8B3-87175E5B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80BF2-F987-4BE0-A8E0-C32E735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622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2. Demo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F5592-B893-4F6D-9002-8C0ACEB7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ชี้ KPI รวม, Sort สำเร็จ, Productivity และ Day/Night cards เพื่อสรุปสถานะภายใน 30 วินาที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A88EA-41FB-4FA9-8BFB-FE653F0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CE918-B9C8-4BD6-B470-2C4C0D42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3. Drill 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72443-4234-4616-A45F-3E46FCF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กด Daily/Time เพื่อดูช่วงเวลา จากนั้น People/Wave เพื่อดูผู้ปฏิบัติงานและ Wave ที่ควรตรวจ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9B2C1-402B-4EE9-B608-7349288D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DBB60-AEB7-435A-BCD3-5338B2F0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4.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6A4A1-D89C-4DC9-BD93-18F35437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ปิดที่ Worklist เพื่อเลือก Wave/item จริง พร้อม export CSV ให้หัวหน้ากะหรือทีมหน้างานต่อได้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9C313-22B9-42D9-AEAA-0C66CED4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4A8CC-9716-445E-AD72-CC2FB21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06706-CFC3-4359-81EE-CF9BFCE2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4830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สิ่งที่ควรพูดเรื่อง reliability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B1334-0B68-4913-8F05-70B3A13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102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ข้อมูลขึ้นกับสิทธิ์ Google Sheet และอินเทอร์เน็ต, loader มี timeout/error handling, รายชื่อพนักงานมี fallback ใน data.js, auto-refresh ตั้งไว้ทุก 5 นาที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21861-18A5-4B4B-ACCE-E3E6D7B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3"/>
          </a:solidFill>
          <a:ln xmlns:a="http://schemas.openxmlformats.org/drawingml/2006/main" w="9525">
            <a:solidFill>
              <a:srgbClr val="1D355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24C43-83A7-41C3-916F-E994D83D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F79A2-34D2-4F56-A8B7-66B22B3C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ไฟล์หลักที่ควรรู้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A311D-F71B-4ED2-9370-5D104A2E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102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index.html = layout, styles.css = visual system, data.js = config/staff fallback, app.js = business logic ทั้งหมด, server.py = local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49EF5-62F2-4009-B9B7-75FB85F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981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สรุป: เว็บนี้คือ live operation cockpit สำหรับเปลี่ยนข้อมูล Pick/Sort ดิบให้เป็นการตัดสินใจรายกะ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4BCC5-AA4F-49D1-B31C-1D26ABC2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A"/>
                </a:solidFill>
                <a:latin typeface="Arial"/>
                <a:ea typeface="Arial"/>
                <a:cs typeface="Arial"/>
              </a:defRPr>
            </a:pPr>
            <a:r>
              <a:t>Pick to Sort Performance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F51EA-8B70-4AB4-8DFA-A4C0F301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4C8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0681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2026-06-11T08:36:29.7620000Z</dcterms:created>
  <dcterms:modified xsi:type="dcterms:W3CDTF">2026-06-11T08:36:29.7620000Z</dcterms:modified>
</coreProperties>
</file>